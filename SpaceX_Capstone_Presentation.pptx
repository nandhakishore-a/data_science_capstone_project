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645920"/>
            <a:ext cx="6858000" cy="6858000"/>
          </a:xfrm>
          <a:prstGeom prst="ellipse">
            <a:avLst/>
          </a:prstGeom>
          <a:ln w="19050">
            <a:solidFill>
              <a:srgbClr val="1E2A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731520"/>
            <a:ext cx="5029200" cy="5029200"/>
          </a:xfrm>
          <a:prstGeom prst="ellipse">
            <a:avLst/>
          </a:prstGeom>
          <a:ln w="19050">
            <a:solidFill>
              <a:srgbClr val="2733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75720" y="1874520"/>
            <a:ext cx="128016" cy="128016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APPLIED DATA SCIENCE CAPSTONE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256032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SpaceX Falcon 9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First-Stage Landing Prediction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science pipeline for predicting reusable booster landing outcomes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5074920"/>
            <a:ext cx="1280160" cy="0"/>
          </a:xfrm>
          <a:prstGeom prst="line">
            <a:avLst/>
          </a:prstGeom>
          <a:noFill/>
          <a:ln w="25400">
            <a:solidFill>
              <a:srgbClr val="FF5A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212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[Your Name]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IBM Applied Data Science Capstone  •  [Add date]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github.com/Nandhakishore-A/DATA_SCIENCE_CAPSTONE_PROJECT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project, and what it found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146304" cy="14630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830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617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advertises Falcon 9 launches at a fraction of competitors' prices, largely because it reuses the first-stage booster. Whether a competitor — or SpaceX itself — can predict if a booster will land successfully has direct cost implications.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60020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91072" y="1874520"/>
            <a:ext cx="146304" cy="146304"/>
          </a:xfrm>
          <a:prstGeom prst="ellipse">
            <a:avLst/>
          </a:prstGeom>
          <a:solidFill>
            <a:srgbClr val="3ED9A6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7830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286000"/>
            <a:ext cx="4617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pipeline (API + web-scraped data collection → wrangling → SQL &amp; visual EDA → geospatial analysis → dashboard → ML) to predict first-stage landing success from launch parameters.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4434840"/>
            <a:ext cx="146304" cy="146304"/>
          </a:xfrm>
          <a:prstGeom prst="ellipse">
            <a:avLst/>
          </a:prstGeom>
          <a:solidFill>
            <a:srgbClr val="5DA9E9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3434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4617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historical Falcon 9 launches were analyzed. Overall observed landing success rate: 66.7%. Four classification models were tuned with GridSearchCV (10-fold CV).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416052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91072" y="4434840"/>
            <a:ext cx="146304" cy="146304"/>
          </a:xfrm>
          <a:prstGeom prst="ellipse">
            <a:avLst/>
          </a:prstGeom>
          <a:solidFill>
            <a:srgbClr val="FF7A6E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3434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ML Model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4846320"/>
            <a:ext cx="4617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Classifier: 87.5% cross-validated accuracy, 94.4% accuracy on the held-out test set — the highest test accuracy of the four models compared.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SpaceX, reusability, and why landing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SpaceX Background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200400"/>
            <a:ext cx="2916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 is SpaceX's two-stage orbital rocket.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dataset (built in Data Collection API.ipynb) covers 90 past Falcon 9 launches retrieved from the SpaceX REST API.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9476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ED9A6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07992" y="256032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Falcon 9 Reusability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07992" y="3200400"/>
            <a:ext cx="2916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Wrangling notebook labels each launch's Outcome (e.g. ‘True ASDS’, ‘False Ocean’, ‘None None’).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Class column (1 = booster landed, 0 = did not land) is derived from these outcome strings.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69164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11312" y="19476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DA9E9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11312" y="2560320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Landing Prediction Matters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11312" y="3200400"/>
            <a:ext cx="2916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landed booster can be refurbished and reused, lowering launch cost.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landing outcome from launch parameters (payload, orbit, site) lets stakeholders estimate that cost advantage before a launch.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collection paths: REST API and web scraping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647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Workflow  —  Data Collection API.ipynb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9377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 to api.spacexdata.com/v4/launches/past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pd.json_normalize() converts the JSON response to a DataFrame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functions getBoosterVersion / getLaunchSite / getPayloadData / getCoreData call the rocket, launchpad, payloads and cores sub-APIs to enrich each record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filtered to Falcon 9 launches only; FlightNumber assigned 1–90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647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Scraping Workflow  —  Data Collection with Web Scraping.ipynb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46520" y="2194560"/>
            <a:ext cx="49377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requests.get() on the static Wikipedia “List of Falcon 9 and Falcon Heavy launches” page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BeautifulSoup(response.content, 'html.parser') parses the HTML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soup.find_all('table') isolates the launch-record tables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headers and row cells extracted into a pandas DataFrame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B2447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7274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Summary (after wrangling)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5120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launch records  •  3 launch sites: CCAFS SLC 40 (55), KSC LC 39A (22), VAFB SLC 4E (13)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2B1420"/>
          </a:solidFill>
          <a:ln w="12700">
            <a:solidFill>
              <a:srgbClr val="FF7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815584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notebook cell-output screenshots were found in the ZIP for the API or web-scraping steps. Insert your own notebook screenshots here before submission.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Cleaning, labeling, and finalizing the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 (raw API dataset)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PayloadMass: 5 missing values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LandingPad: 26 missing values (expected — not every launch attempted a ground/drone-ship landing)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df.isnull().sum()/df.count()*100 confirmed 0% missing in the final wrangled feature set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Outcome.value_counts() produced 8 unique landing-outcome strings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bad_outcomes = {'False ASDS','False Ocean','False RTLS','None ASDS','None None'}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 label derived: 1 = landed, 0 = did not land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B2447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Dataset Description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52628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rows total  •  LaunchSite: CCAFS SLC 40 (55), KSC LC 39A (22), VAFB SLC 4E (13)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Orbit: GTO (27), ISS (21), VLEO (14), PO (9), LEO (7), SSO (5), MEO (3), HEO (1), SO (1), GEO (1), ES-L1 (1)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Class mean (success rate): 0.667  →  66.7% of launches in the dataset landed successfully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complementary approaches: SQL and Python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EDA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500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Analysis.ipynb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loaded into an IBM Db2 (cloud) table Spacextbl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via the %sql ipython-sql magic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targeted business questions answered with direct SQL aggregation/filtering (totals, averages, rankings, subqueries)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SQL: fast, declarative answers to specific numeric questions (e.g. total payload by customer) without loading the full frame into memory logic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920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Visual EDA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3500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Data Visualization.ipynb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74320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seaborn/matplotlib used to explore FlightNumber, PayloadMass, LaunchSite, Orbit vs. Class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 one-hot encoded and numeric columns cast to float64 for modeling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Python/visual: scatter, bar and line plots reveal trends (e.g. success rate over time, clustering by orbit) that are hard to see in tabular SQL output alone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VISUALIZATIONS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 analysis — flight number, payload, site &amp; orbit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Payload Mass vs Flight Number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01368"/>
            <a:ext cx="5532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6" name="Image 0" descr="/home/claude/deck/img/flight_vs_paylo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" y="1874520"/>
            <a:ext cx="5385816" cy="10881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081528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flights (higher FlightNumber) carry a wider range of payload mass, and successful landings (orange) become more frequent among later flights.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63640" y="1508760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Number vs Launch Site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801368"/>
            <a:ext cx="5532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10" name="Image 1" descr="/home/claude/deck/img/flight_vs_si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36792" y="1874520"/>
            <a:ext cx="5385816" cy="10881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3640" y="3081528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only enters use from higher flight numbers onward; CCAFS SLC 40 is active across the full flight-number range.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02920" y="341071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Payload Mass vs Launch Site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2920" y="3703320"/>
            <a:ext cx="5532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14" name="Image 2" descr="/home/claude/deck/img/payload_vs_sit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6072" y="3776472"/>
            <a:ext cx="5385816" cy="10881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2920" y="498348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VAFB SLC 4E is used for a narrower payload-mass range than CCAFS SLC 40, which handles the heaviest payloads (~15,600 kg).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263640" y="341071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Number vs Orbit Type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63640" y="3703320"/>
            <a:ext cx="5532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18" name="Image 3" descr="/home/claude/deck/img/flight_vs_orbi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36792" y="3776472"/>
            <a:ext cx="5385816" cy="10881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63640" y="498348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GTO and ISS orbits appear across the whole flight range; VLEO orbit launches are concentrated in later flights only.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VISUALIZATIONS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Success-rate distribution and yearly trend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Rate by Orbit (bar chart)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6576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6" name="Image 0" descr="/home/claude/deck/img/success_rate_orb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984248"/>
            <a:ext cx="3438144" cy="2523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69087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ES-L1, GEO, HEO and SSO orbits show a 100% observed success rate in this dataset; GTO is lowest at ~52%.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434840" y="15544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Payload Mass vs Orbit Type (scatter)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874520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10" name="Image 1" descr="/home/claude/deck/img/payload_vs_orbi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07992" y="1947672"/>
            <a:ext cx="3831336" cy="12252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34840" y="330098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GTO and ISS orbits span a wide payload range; VLEO carries the heaviest payloads among frequently-used orbits.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686800" y="15544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Success Rate by Year (line chart)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686800" y="1874520"/>
            <a:ext cx="29718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14" name="Image 2" descr="/home/claude/deck/img/yearly_tren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96528" y="1984248"/>
            <a:ext cx="2752344" cy="2523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0" y="469087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rose from 0% in 2010/2013 to roughly 83–90% by 2019–2020.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02920" y="5303520"/>
            <a:ext cx="7909560" cy="566928"/>
          </a:xfrm>
          <a:prstGeom prst="roundRect">
            <a:avLst>
              <a:gd name="adj" fmla="val 9677"/>
            </a:avLst>
          </a:prstGeom>
          <a:solidFill>
            <a:srgbClr val="2B1420"/>
          </a:solidFill>
          <a:ln w="12700">
            <a:solidFill>
              <a:srgbClr val="FF7A6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40080" y="5358384"/>
            <a:ext cx="7635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Pie Chart &amp; Correlation Plot were NOT found as static outputs in any notebook. A pie chart exists only as an interactive Plotly component in the Dash app (Slide 11). Insert a correlation heatmap / pie chart here if you add one.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USING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business questions, answered directly against Spacextbl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55680" cy="333756"/>
          </a:xfrm>
          <a:prstGeom prst="rect">
            <a:avLst/>
          </a:prstGeom>
          <a:solidFill>
            <a:srgbClr val="1B2447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1560" y="1508760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89320" y="1508760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842516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42516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1051560" y="1842516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launch sites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5989320" y="1842516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LC-40, CCAFS SLC-40, KSC LC-39A, VAFB SLC-4E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02920" y="2176272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76272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1051560" y="2176272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where site LIKE 'CCA%' (first 5)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989320" y="2176272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 returned, e.g. F9 v1.0 B0003 — CCAFS LC-40 — 2010-06-04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02920" y="2510028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10028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1051560" y="2510028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payload mass, customer = NASA (CRS)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5989320" y="2510028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45,596 kg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02920" y="2843784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843784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1051560" y="2843784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payload mass, booster F9 v1.1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5989320" y="2843784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2,928 kg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02920" y="3177540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177540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1051560" y="3177540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successful ground-pad landing date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5989320" y="3177540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2015-12-22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02920" y="3511296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511296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1051560" y="3511296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Boosters: drone-ship success, 4,000–6,000 kg payload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5989320" y="3511296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FT B1022, B1026, B1021.2, B1031.2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02920" y="3845052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845052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1051560" y="3845052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successful vs. failed mission outcomes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989320" y="3845052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success / 1 failure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02920" y="4178808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178808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1051560" y="4178808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 version(s) with maximum payload mass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5989320" y="4178808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15,600 kg — carried by 12 F9 B5 boosters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502920" y="4512564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4512564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1051560" y="4512564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drone-ship landings in 2015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5989320" y="4512564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v1.1 B1012 (2015-01-10), B1015 (2015-04-14) — both CCAFS LC-40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02920" y="4846320"/>
            <a:ext cx="11155680" cy="333756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4846320"/>
            <a:ext cx="320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1051560" y="4846320"/>
            <a:ext cx="4800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Landing-outcome ranking, 2010-06-04 to 2017-03-20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5989320" y="4846320"/>
            <a:ext cx="56235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80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attempt (10) → ... → Precluded/drone ship (1)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502920" y="5317236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NASA CRS missions carried a substantial payload share; F9 B5 boosters were used for the heaviest (15,600 kg) payloads; ground-pad landing success only began in Dec 2015; nearly all missions succeeded at their primary objective (100/101) even when the booster itself did not land.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Geospatial analysis of launch sites and proximities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Site Map &amp; Landing Sites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folium.Map() centered on NASA Johnson Space Center [29.5597, -95.0831]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folium.Circle() markers placed at each of the 3 launch sites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MarkerCluster() groups per-launch markers, color-coded by success/failure at each site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calculate_distance(lat1, lon1, lat2, lon2) implements the haversine formula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measure distance from each launch site to its nearest coastline, railway, highway, and the city of Cape Canaveral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 + PolyLines annotate each measured distance on the map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913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notebook: interactive_visual_analytics_with_folium_final.ipynb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2B1420"/>
          </a:solidFill>
          <a:ln w="12700">
            <a:solidFill>
              <a:srgbClr val="FF7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306824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static screenshot of the Folium map was found in the ZIP — Folium maps render as interactive HTML/JS inside the notebook and were not exported as an image. Insert your own screenshot of the rendered map here.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launch-records dashboard — spacex_dash_app.py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9377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(site-dropdown): “All Sites” + each unique Launch Site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(success-pie-chart): px.pie of successful launches by site, or success/fail split for one selected site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RangeSlider (payload_slider): filters by payload mass, 0–10,000 kg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Chart (success-payload-scatter-chart): px.scatter of Payload Mass vs. class, colored by Booster Version Category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49377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1: site-dropdown → success-pie-chart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2: site-dropdown + payload_slider → success-payload-scatter-chart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 site or dragging the payload slider re-renders both charts live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2B1420"/>
          </a:solidFill>
          <a:ln w="12700">
            <a:solidFill>
              <a:srgbClr val="FF7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352544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dashboard screenshot was found in the ZIP. The app also reads spacex_launch_dash.csv, which is not included — add that CSV and a live screenshot before submission.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Pipeline: features → split → scale → four tuned classifiers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B2447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383280" y="1554480"/>
            <a:ext cx="7955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categorical columns from EDA with Data Visualization.ipynb (Task 7), cast to float64 (Task 8).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79192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B2447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679192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83280" y="2679192"/>
            <a:ext cx="7955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train_test_split() used in SpaceX_Machine Learning Prediction_Part_5.ipynb to hold out a test set.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0390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B2447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803904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StandardScaler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383280" y="3803904"/>
            <a:ext cx="7955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standardized with StandardScaler().fit_transform() prior to model training.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038344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compared (GridSearchCV, cv = 10, scoring = 'accuracy')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422392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55138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584301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[0.01, 0.1, 1] • penalty: l2 • solver: lbfgs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83280" y="5422392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20440" y="55138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20440" y="584301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gamma grid • kernel options incl. sigmoid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5422392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55138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55080" y="584301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criterion, max_depth, max_features, min_samples_leaf/split, splitter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052560" y="5422392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89720" y="55138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89720" y="584301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• n_neighbors • p (distance metric)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wins on the held-out test 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Comparison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4846320" cy="384048"/>
          </a:xfrm>
          <a:prstGeom prst="rect">
            <a:avLst/>
          </a:prstGeom>
          <a:solidFill>
            <a:srgbClr val="1B2447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9202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898648" y="19202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78808" y="19202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304288"/>
            <a:ext cx="4846320" cy="384048"/>
          </a:xfrm>
          <a:prstGeom prst="rect">
            <a:avLst/>
          </a:prstGeom>
          <a:solidFill>
            <a:srgbClr val="16321F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30428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98648" y="23042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0.8750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78808" y="23042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0.9444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688336"/>
            <a:ext cx="4846320" cy="384048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68833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98648" y="268833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0.8482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78808" y="268833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0.8333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072384"/>
            <a:ext cx="4846320" cy="384048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07238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98648" y="30723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0.8482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78808" y="30723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0.8333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456432"/>
            <a:ext cx="4846320" cy="384048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345643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98648" y="34564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0.8464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78808" y="34564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0.8333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9776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hyperparameters (Decision Tree): criterion = gini, max_depth = 4, max_features = sqrt, min_samples_leaf = 2, min_samples_split = 10, splitter = best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15000" y="1554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— Decision Tree (test set)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715000" y="1920240"/>
            <a:ext cx="283464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28" name="Image 0" descr="/home/claude/deck/img/cm_tr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24728" y="2029968"/>
            <a:ext cx="2615184" cy="243230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715000" y="46268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“landed” cases correctly classified; 5 of 6 “did not land” cases correctly classified (1 false positive).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869680" y="155448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Cross-Validated Accuracy by Model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8869680" y="1874520"/>
            <a:ext cx="27889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pic>
        <p:nvPicPr>
          <p:cNvPr id="32" name="Image 1" descr="/home/claude/deck/img/cv_accuracy_ba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79408" y="1984248"/>
            <a:ext cx="2569464" cy="1746504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502920" y="5806440"/>
            <a:ext cx="11155680" cy="566928"/>
          </a:xfrm>
          <a:prstGeom prst="roundRect">
            <a:avLst>
              <a:gd name="adj" fmla="val 9677"/>
            </a:avLst>
          </a:prstGeom>
          <a:solidFill>
            <a:srgbClr val="2B1420"/>
          </a:solidFill>
          <a:ln w="12700">
            <a:solidFill>
              <a:srgbClr val="FF7A6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0080" y="586130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Classification Report (precision/recall/F1) and ROC Curve were NOT found in the notebook — only confusion matrices were generated. Add sklearn.metrics.classification_report() / roc_curve() output if required by your grader.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01952"/>
            <a:ext cx="329184" cy="32918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01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773936"/>
            <a:ext cx="4389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first-stage landing success rate across all 90 launches is 66.7%.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3952" y="1901952"/>
            <a:ext cx="329184" cy="32918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0" name="Text 8"/>
          <p:cNvSpPr/>
          <p:nvPr/>
        </p:nvSpPr>
        <p:spPr>
          <a:xfrm>
            <a:off x="6473952" y="1901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95160" y="1773936"/>
            <a:ext cx="4389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success rate climbed from 0% in 2010/2013 to roughly 83–90% by 2019–2020.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3383280"/>
            <a:ext cx="329184" cy="32918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383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255264"/>
            <a:ext cx="4389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ES-L1, GEO, HEO and SSO orbits show a 100% success rate in this dataset, while GTO is lowest at ~52%.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12724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3383280"/>
            <a:ext cx="329184" cy="32918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3383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95160" y="3255264"/>
            <a:ext cx="4389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Ground-pad landing success was not achieved until December 22, 2015 (SQL Task 5).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0857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864608"/>
            <a:ext cx="329184" cy="32918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864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736592"/>
            <a:ext cx="4389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Tree model generalized best to the held-out test set (94.4%) despite ranking 2nd on cross-validation — its shallow depth (4) may reduce overfitting to the small (90-row) dataset.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60857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3952" y="4864608"/>
            <a:ext cx="329184" cy="329184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26" name="Text 24"/>
          <p:cNvSpPr/>
          <p:nvPr/>
        </p:nvSpPr>
        <p:spPr>
          <a:xfrm>
            <a:off x="6473952" y="4864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95160" y="4736592"/>
            <a:ext cx="43891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SLC 40 was used far more than the other two sites (55 of 90 launches, 61%).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API data to a tuned landing-outcome classifier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capstone implemented the full required pipeline — SpaceX REST API collection, Wikipedia web scraping, data wrangling, SQL-based EDA, Python visual EDA, Folium geospatial analysis, a Plotly Dash dashboard, and four tuned classification models — culminating in a Decision Tree classifier with 94.4% test accuracy.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 landing-outcome predictor lets a launch provider estimate whether a mission's first stage is likely to be reused — informing bid pricing and manifest planning ahead of launch.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31546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A9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36576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classification_report / ROC-AUC evaluation; capture Folium &amp; Dash screenshots; supply the missing spacex_launch_dash.csv and raw dataset files; try ensemble models (Random Forest, XGBoost).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F2A22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61772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line: Decision Tree Classifier — 87.5% CV accuracy, 94.4% test accuracy — best model produced by this project.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checklist, based on the ZIP contents found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41B36"/>
          </a:solidFill>
          <a:ln w="12700">
            <a:solidFill>
              <a:srgbClr val="1B244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Found in ZIP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github.com/Nandhakishore-A/DATA_SCIENCE_CAPSTONE_PROJECT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(present, but minimal — replace with the generated README.md)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API.ipynb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with Web Scraping.ipynb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lab week 1.ipynb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Analysis.ipynb (SQL)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Data Visualization.ipynb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interactive_visual_analytics_with_folium_final.ipynb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SpaceX_Machine Learning Prediction_Part_5.ipynb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spacex_dash_app.py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1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ds-capstone-template-coursera.pdf (assignment template)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2B1420"/>
          </a:solidFill>
          <a:ln w="12700">
            <a:solidFill>
              <a:srgbClr val="FF7A6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Missing — supply before submitting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Folium map screenshots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/ processed dataset CSVs (e.g. spacex_launch_dash.csv, required by spacex_dash_app.py)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20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presentation, exported as .pptx / .pdf (upload to the repo above)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CROSS-CHECK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against the required rubric items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55680" cy="352044"/>
          </a:xfrm>
          <a:prstGeom prst="rect">
            <a:avLst/>
          </a:prstGeom>
          <a:solidFill>
            <a:srgbClr val="1B2447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508760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Item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55848" y="1508760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10328" y="1508760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0804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860804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3355848" y="1860804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4910328" y="1860804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212848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3355848" y="2212848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4910328" y="2212848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02920" y="2564892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564892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3355848" y="2564892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910328" y="2564892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— API &amp; scraping code confirmed; no notebook screenshots found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02920" y="2916936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2916936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3355848" y="2916936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4910328" y="2916936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— real missing-value and value_counts figures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02920" y="3268980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3268980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Methodology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3355848" y="3268980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4910328" y="3268980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502920" y="3621024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3621024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Visualization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3355848" y="3621024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Partial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4910328" y="3621024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7–8 — pie chart &amp; correlation plot not present in any notebook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02920" y="3973068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3973068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3355848" y="3973068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4910328" y="3973068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— all 10 queries executed with real results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502920" y="4325112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4325112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Mapping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3355848" y="4325112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Partial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4910328" y="4325112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— code confirmed; no static screenshot in ZIP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502920" y="4677156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" y="4677156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3355848" y="4677156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Partial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4910328" y="4677156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— app code confirmed; no screenshot; CSV data file missing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502920" y="5029200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" y="5029200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Methodology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3355848" y="5029200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4910328" y="5029200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502920" y="5381244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" y="5381244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Results</a:t>
            </a:r>
            <a:endParaRPr lang="en-US" sz="1020" dirty="0"/>
          </a:p>
        </p:txBody>
      </p:sp>
      <p:sp>
        <p:nvSpPr>
          <p:cNvPr id="50" name="Text 48"/>
          <p:cNvSpPr/>
          <p:nvPr/>
        </p:nvSpPr>
        <p:spPr>
          <a:xfrm>
            <a:off x="3355848" y="5381244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Partial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4910328" y="5381244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— confusion matrices present; classification report &amp; ROC curve not found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502920" y="5733288"/>
            <a:ext cx="11155680" cy="352044"/>
          </a:xfrm>
          <a:prstGeom prst="rect">
            <a:avLst/>
          </a:prstGeom>
          <a:solidFill>
            <a:srgbClr val="141B36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" y="5733288"/>
            <a:ext cx="25603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3355848" y="5733288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1020" dirty="0"/>
          </a:p>
        </p:txBody>
      </p:sp>
      <p:sp>
        <p:nvSpPr>
          <p:cNvPr id="55" name="Text 53"/>
          <p:cNvSpPr/>
          <p:nvPr/>
        </p:nvSpPr>
        <p:spPr>
          <a:xfrm>
            <a:off x="4910328" y="5733288"/>
            <a:ext cx="6675120" cy="352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4F7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1020" dirty="0"/>
          </a:p>
        </p:txBody>
      </p:sp>
      <p:sp>
        <p:nvSpPr>
          <p:cNvPr id="56" name="Text 54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 Landing Prediction  |  IBM Applied Data Science Capstone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2026-07-17T04:37:57Z</dcterms:created>
  <dcterms:modified xsi:type="dcterms:W3CDTF">2026-07-17T04:37:57Z</dcterms:modified>
</cp:coreProperties>
</file>